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>
  <c:date1904 val="0"/>
  <c:lang val="en-US"/>
  <c:chart>
    <c:autoTitleDeleted val="0"/>
    <c:title>
      <c:tx>
        <c:rich>
          <a:bodyPr/>
          <a:lstStyle/>
          <a:p>
            <a:pPr>
              <a:defRPr/>
            </a:pPr>
            <a:r>
              <a:rPr lang="en-US" sz="1400"/>
              <a:t>Historical best F1 by method</a:t>
            </a:r>
            <a:endParaRPr lang="en-US"/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ICU</c:v>
                </c:pt>
              </c:strCache>
            </c:strRef>
          </c:tx>
          <c:spPr>
            <a:solidFill>
              <a:srgbClr val="277DA1"/>
            </a:solidFill>
            <a:ln>
              <a:noFill/>
            </a:ln>
          </c:spPr>
          <c:cat>
            <c:strLit>
              <c:ptCount val="4"/>
              <c:pt idx="0">
                <c:v>Raw</c:v>
              </c:pt>
              <c:pt idx="1">
                <c:v>PCA</c:v>
              </c:pt>
              <c:pt idx="2">
                <c:v>LASSO</c:v>
              </c:pt>
              <c:pt idx="3">
                <c:v>SMOTEENN</c:v>
              </c:pt>
            </c:strLit>
          </c:cat>
          <c:val>
            <c:numLit>
              <c:formatCode>0.00</c:formatCode>
              <c:ptCount val="4"/>
              <c:pt idx="0">
                <c:v>0.220010</c:v>
              </c:pt>
              <c:pt idx="1">
                <c:v>0.219008</c:v>
              </c:pt>
              <c:pt idx="2">
                <c:v>0.212547</c:v>
              </c:pt>
              <c:pt idx="3">
                <c:v>0.190041</c:v>
              </c:pt>
            </c:numLit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INTUBED</c:v>
                </c:pt>
              </c:strCache>
            </c:strRef>
          </c:tx>
          <c:spPr>
            <a:solidFill>
              <a:srgbClr val="F9C74F"/>
            </a:solidFill>
            <a:ln>
              <a:noFill/>
            </a:ln>
          </c:spPr>
          <c:cat>
            <c:strLit>
              <c:ptCount val="4"/>
              <c:pt idx="0">
                <c:v>Raw</c:v>
              </c:pt>
              <c:pt idx="1">
                <c:v>PCA</c:v>
              </c:pt>
              <c:pt idx="2">
                <c:v>LASSO</c:v>
              </c:pt>
              <c:pt idx="3">
                <c:v>SMOTEENN</c:v>
              </c:pt>
            </c:strLit>
          </c:cat>
          <c:val>
            <c:numLit>
              <c:formatCode>0.00</c:formatCode>
              <c:ptCount val="4"/>
              <c:pt idx="0">
                <c:v>0.352646</c:v>
              </c:pt>
              <c:pt idx="1">
                <c:v>0.347998</c:v>
              </c:pt>
              <c:pt idx="2">
                <c:v>0.350060</c:v>
              </c:pt>
              <c:pt idx="3">
                <c:v>0.332491</c:v>
              </c:pt>
            </c:numLit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DEATH</c:v>
                </c:pt>
              </c:strCache>
            </c:strRef>
          </c:tx>
          <c:spPr>
            <a:solidFill>
              <a:srgbClr val="43AA8B"/>
            </a:solidFill>
            <a:ln>
              <a:noFill/>
            </a:ln>
          </c:spPr>
          <c:cat>
            <c:strLit>
              <c:ptCount val="4"/>
              <c:pt idx="0">
                <c:v>Raw</c:v>
              </c:pt>
              <c:pt idx="1">
                <c:v>PCA</c:v>
              </c:pt>
              <c:pt idx="2">
                <c:v>LASSO</c:v>
              </c:pt>
              <c:pt idx="3">
                <c:v>SMOTEENN</c:v>
              </c:pt>
            </c:strLit>
          </c:cat>
          <c:val>
            <c:numLit>
              <c:formatCode>0.00</c:formatCode>
              <c:ptCount val="4"/>
              <c:pt idx="0">
                <c:v>0.480565</c:v>
              </c:pt>
              <c:pt idx="1">
                <c:v>0.477787</c:v>
              </c:pt>
              <c:pt idx="2">
                <c:v>0.477486</c:v>
              </c:pt>
              <c:pt idx="3">
                <c:v>0.509017</c:v>
              </c:pt>
            </c:numLit>
          </c:val>
        </c:ser>
        <c:gapWidth val="75"/>
        <c:overlap val="0"/>
        <c:axId val="12345"/>
        <c:axId val="12346"/>
      </c:barChart>
      <c:catAx>
        <c:axId val="12345"/>
        <c:scaling>
          <c:orientation val="minMax"/>
        </c:scaling>
        <c:delete val="0"/>
        <c:axPos val="b"/>
        <c:majorTickMark val="none"/>
        <c:minorTickMark val="none"/>
        <c:tickLblPos val="nextTo"/>
        <c:crossAx val="12346"/>
        <c:crosses val="autoZero"/>
        <c:auto val="1"/>
        <c:lblAlgn val="ctr"/>
        <c:lblOffset val="100"/>
      </c:catAx>
      <c:valAx>
        <c:axId val="12346"/>
        <c:scaling>
          <c:orientation val="minMax"/>
          <c:max val="0.6"/>
        </c:scaling>
        <c:delete val="0"/>
        <c:axPos val="l"/>
        <c:majorGridlines/>
        <c:numFmt formatCode="0.0" sourceLinked="0"/>
        <c:majorTickMark val="out"/>
        <c:minorTickMark val="none"/>
        <c:tickLblPos val="nextTo"/>
        <c:crossAx val="12345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Historical best F1 by method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ICU</c:v>
                </c:pt>
              </c:strCache>
            </c:strRef>
          </c:tx>
          <c:spPr>
            <a:solidFill>
              <a:srgbClr val="277DA1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PCA</c:v>
                </c:pt>
                <c:pt idx="2">
                  <c:v>LASSO</c:v>
                </c:pt>
                <c:pt idx="3">
                  <c:v>SMOTEENN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0.2200097529258777</c:v>
                </c:pt>
                <c:pt idx="1">
                  <c:v>0.219008094670666</c:v>
                </c:pt>
                <c:pt idx="2">
                  <c:v>0.2125465698265156</c:v>
                </c:pt>
                <c:pt idx="3">
                  <c:v>0.1900408362284391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INTUBED</c:v>
                </c:pt>
              </c:strCache>
            </c:strRef>
          </c:tx>
          <c:spPr>
            <a:solidFill>
              <a:srgbClr val="F9C74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PCA</c:v>
                </c:pt>
                <c:pt idx="2">
                  <c:v>LASSO</c:v>
                </c:pt>
                <c:pt idx="3">
                  <c:v>SMOTEENN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0.3526456151200093</c:v>
                </c:pt>
                <c:pt idx="1">
                  <c:v>0.3479978313066377</c:v>
                </c:pt>
                <c:pt idx="2">
                  <c:v>0.350060061223699</c:v>
                </c:pt>
                <c:pt idx="3">
                  <c:v>0.3324914812587693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DEATH</c:v>
                </c:pt>
              </c:strCache>
            </c:strRef>
          </c:tx>
          <c:spPr>
            <a:solidFill>
              <a:srgbClr val="43AA8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Raw</c:v>
                </c:pt>
                <c:pt idx="1">
                  <c:v>PCA</c:v>
                </c:pt>
                <c:pt idx="2">
                  <c:v>LASSO</c:v>
                </c:pt>
                <c:pt idx="3">
                  <c:v>SMOTEENN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0.4805648344974187</c:v>
                </c:pt>
                <c:pt idx="1">
                  <c:v>0.4777872501657668</c:v>
                </c:pt>
                <c:pt idx="2">
                  <c:v>0.477485982929038</c:v>
                </c:pt>
                <c:pt idx="3">
                  <c:v>0.5090166407501102</c:v>
                </c:pt>
              </c:numCache>
            </c:numRef>
          </c:val>
        </c:ser>
        <c:gapWidth val="7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0.1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30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7324D"/>
                </a:solidFill>
                <a:latin typeface="Aptos"/>
              </a:rPr>
              <a:t>COVID-19 Patient Risk Analysis</a:t>
            </a:r>
            <a:endParaRPr lang="en-US" sz="2800"/>
          </a:p>
        </p:txBody>
      </p:sp>
      <p:sp>
        <p:nvSpPr>
          <p:cNvPr id="3" name="Content"/>
          <p:cNvSpPr txBox="1"/>
          <p:nvPr/>
        </p:nvSpPr>
        <p:spPr>
          <a:xfrm>
            <a:off x="720000" y="1450000"/>
            <a:ext cx="10800000" cy="50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UE24CS352A Machine Learning mini-project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Tabular adaptation of a CT-based triage research question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Team details are omitted because they are not recorded in the repository.</a:t>
            </a:r>
            <a:endParaRPr lang="en-US" sz="1900"/>
          </a:p>
        </p:txBody>
      </p:sp>
      <p:sp>
        <p:nvSpPr>
          <p:cNvPr id="30" name="Footer"/>
          <p:cNvSpPr txBox="1"/>
          <p:nvPr/>
        </p:nvSpPr>
        <p:spPr>
          <a:xfrm>
            <a:off x="650000" y="6600000"/>
            <a:ext cx="11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607985"/>
                </a:solidFill>
                <a:latin typeface="Aptos"/>
              </a:rPr>
              <a:t>COVID-19 Patient Risk Analysis  |  01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30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7324D"/>
                </a:solidFill>
                <a:latin typeface="Aptos"/>
              </a:rPr>
              <a:t>Prediction question</a:t>
            </a:r>
            <a:endParaRPr lang="en-US" sz="2800"/>
          </a:p>
        </p:txBody>
      </p:sp>
      <p:sp>
        <p:nvSpPr>
          <p:cNvPr id="3" name="Content"/>
          <p:cNvSpPr txBox="1"/>
          <p:nvPr/>
        </p:nvSpPr>
        <p:spPr>
          <a:xfrm>
            <a:off x="720000" y="1450000"/>
            <a:ext cx="10800000" cy="50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Can demographic and recorded clinical variables rank severe COVID-19 outcomes?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Outcomes: ICU admission, intubation, and recorded death.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The work compares ranking quality and default-threshold errors under class imbalance.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This is a coursework experiment, not a clinical decision system.</a:t>
            </a:r>
            <a:endParaRPr lang="en-US" sz="1900"/>
          </a:p>
        </p:txBody>
      </p:sp>
      <p:sp>
        <p:nvSpPr>
          <p:cNvPr id="30" name="Footer"/>
          <p:cNvSpPr txBox="1"/>
          <p:nvPr/>
        </p:nvSpPr>
        <p:spPr>
          <a:xfrm>
            <a:off x="650000" y="6600000"/>
            <a:ext cx="11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607985"/>
                </a:solidFill>
                <a:latin typeface="Aptos"/>
              </a:rPr>
              <a:t>COVID-19 Patient Risk Analysis  |  02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30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7324D"/>
                </a:solidFill>
                <a:latin typeface="Aptos"/>
              </a:rPr>
              <a:t>Research context and dataset adaptation</a:t>
            </a:r>
            <a:endParaRPr lang="en-US" sz="2800"/>
          </a:p>
        </p:txBody>
      </p:sp>
      <p:sp>
        <p:nvSpPr>
          <p:cNvPr id="3" name="Content"/>
          <p:cNvSpPr txBox="1"/>
          <p:nvPr/>
        </p:nvSpPr>
        <p:spPr>
          <a:xfrm>
            <a:off x="720000" y="1450000"/>
            <a:ext cx="10800000" cy="50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Zhan and Li studied CT radiomics with clinical, laboratory, and radiologist information.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The paper's patient-level data were unavailable for this project; the approved public surveillance CSV was used.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Our predictors and design differ from the paper, so this is an adaptation rather than a replication.</a:t>
            </a:r>
            <a:endParaRPr lang="en-US" sz="1900"/>
          </a:p>
        </p:txBody>
      </p:sp>
      <p:sp>
        <p:nvSpPr>
          <p:cNvPr id="30" name="Footer"/>
          <p:cNvSpPr txBox="1"/>
          <p:nvPr/>
        </p:nvSpPr>
        <p:spPr>
          <a:xfrm>
            <a:off x="650000" y="6600000"/>
            <a:ext cx="11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607985"/>
                </a:solidFill>
                <a:latin typeface="Aptos"/>
              </a:rPr>
              <a:t>COVID-19 Patient Risk Analysis  |  03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30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7324D"/>
                </a:solidFill>
                <a:latin typeface="Aptos"/>
              </a:rPr>
              <a:t>Dataset and outcome definitions</a:t>
            </a:r>
            <a:endParaRPr lang="en-US" sz="2800"/>
          </a:p>
        </p:txBody>
      </p:sp>
      <p:sp>
        <p:nvSpPr>
          <p:cNvPr id="3" name="Content"/>
          <p:cNvSpPr txBox="1"/>
          <p:nvPr/>
        </p:nvSpPr>
        <p:spPr>
          <a:xfrm>
            <a:off x="720000" y="1450000"/>
            <a:ext cx="10800000" cy="50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1,048,575 rows and 21 columns in the supplied CSV.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ICU: 192,543 known labels, 8.75% positive. Intubation: 192,706 known labels, 17.46% positive.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Death: valid dd/mm/yyyy date means recorded death; 9999-99-99 means no recorded death. Prevalence: 7.34%.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Known ICU/intubation labels occur only in hospitalized cases (PATIENT_TYPE=2).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812,049 exact duplicate rows; no patient identifier.</a:t>
            </a:r>
            <a:endParaRPr lang="en-US" sz="1900"/>
          </a:p>
        </p:txBody>
      </p:sp>
      <p:sp>
        <p:nvSpPr>
          <p:cNvPr id="30" name="Footer"/>
          <p:cNvSpPr txBox="1"/>
          <p:nvPr/>
        </p:nvSpPr>
        <p:spPr>
          <a:xfrm>
            <a:off x="650000" y="6600000"/>
            <a:ext cx="11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607985"/>
                </a:solidFill>
                <a:latin typeface="Aptos"/>
              </a:rPr>
              <a:t>COVID-19 Patient Risk Analysis  |  04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30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7324D"/>
                </a:solidFill>
                <a:latin typeface="Aptos"/>
              </a:rPr>
              <a:t>Features and leakage controls</a:t>
            </a:r>
            <a:endParaRPr lang="en-US" sz="2800"/>
          </a:p>
        </p:txBody>
      </p:sp>
      <p:sp>
        <p:nvSpPr>
          <p:cNvPr id="3" name="Content"/>
          <p:cNvSpPr txBox="1"/>
          <p:nvPr/>
        </p:nvSpPr>
        <p:spPr>
          <a:xfrm>
            <a:off x="720000" y="1450000"/>
            <a:ext cx="10800000" cy="50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Demo: age and sex. DemoComorb adds ten comorbidity flags. Clinical adds pneumonia.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Targets, PATIENT_TYPE, DATE_DIED, pregnancy, classification, and service/unit fields are excluded.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Age 97/98/99, comorbidity 98/99, pneumonia 99 become missing.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Imputers, scaling, one-hot encoding, and selectors fit on training data only.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New split groups identical predictor rows; it cannot verify distinct patients.</a:t>
            </a:r>
            <a:endParaRPr lang="en-US" sz="1900"/>
          </a:p>
        </p:txBody>
      </p:sp>
      <p:sp>
        <p:nvSpPr>
          <p:cNvPr id="30" name="Footer"/>
          <p:cNvSpPr txBox="1"/>
          <p:nvPr/>
        </p:nvSpPr>
        <p:spPr>
          <a:xfrm>
            <a:off x="650000" y="6600000"/>
            <a:ext cx="11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607985"/>
                </a:solidFill>
                <a:latin typeface="Aptos"/>
              </a:rPr>
              <a:t>COVID-19 Patient Risk Analysis  |  05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30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7324D"/>
                </a:solidFill>
                <a:latin typeface="Aptos"/>
              </a:rPr>
              <a:t>Model and experiment pipeline</a:t>
            </a:r>
            <a:endParaRPr lang="en-US" sz="2800"/>
          </a:p>
        </p:txBody>
      </p:sp>
      <p:sp>
        <p:nvSpPr>
          <p:cNvPr id="3" name="Content"/>
          <p:cNvSpPr txBox="1"/>
          <p:nvPr/>
        </p:nvSpPr>
        <p:spPr>
          <a:xfrm>
            <a:off x="720000" y="1450000"/>
            <a:ext cx="10800000" cy="50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Models: Logistic Regression, Random Forest, Linear SVM, MLP, LightGBM.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Independent methods: raw, PCA, L1 selection, capped SMOTEENN, mutual-information proxy, F-test selection.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80/20 stratified split, random_state=42. SMOTEENN is training-only with a 100,000-row cap.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Metrics: precision, recall, F1, ROC-AUC, average precision, accuracy, confusion counts.</a:t>
            </a:r>
            <a:endParaRPr lang="en-US" sz="1900"/>
          </a:p>
        </p:txBody>
      </p:sp>
      <p:sp>
        <p:nvSpPr>
          <p:cNvPr id="30" name="Footer"/>
          <p:cNvSpPr txBox="1"/>
          <p:nvPr/>
        </p:nvSpPr>
        <p:spPr>
          <a:xfrm>
            <a:off x="650000" y="6600000"/>
            <a:ext cx="11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607985"/>
                </a:solidFill>
                <a:latin typeface="Aptos"/>
              </a:rPr>
              <a:t>COVID-19 Patient Risk Analysis  |  06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30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7324D"/>
                </a:solidFill>
                <a:latin typeface="Aptos"/>
              </a:rPr>
              <a:t>Historical F1 comparison</a:t>
            </a:r>
            <a:endParaRPr lang="en-US" sz="2800"/>
          </a:p>
        </p:txBody>
      </p:sp>
      <p:sp>
        <p:nvSpPr>
          <p:cNvPr id="3" name="Chart note"/>
          <p:cNvSpPr txBox="1"/>
          <p:nvPr/>
        </p:nvSpPr>
        <p:spPr>
          <a:xfrm>
            <a:off x="650000" y="1300000"/>
            <a:ext cx="3600000" cy="45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50" b="0">
                <a:solidFill>
                  <a:srgbClr val="263746"/>
                </a:solidFill>
                <a:latin typeface="Aptos"/>
              </a:rPr>
              <a:t>Highest saved F1 per target and method. Historical split allowed duplicates across partitions.</a:t>
            </a:r>
            <a:endParaRPr lang="en-US" sz="1650"/>
          </a:p>
          <a:p>
            <a:pPr algn="l"/>
            <a:r>
              <a:rPr lang="en-US" sz="1650" b="0">
                <a:solidFill>
                  <a:srgbClr val="263746"/>
                </a:solidFill>
                <a:latin typeface="Aptos"/>
              </a:rPr>
              <a:t>SMOTEENN used capped training data and is a different training regime.</a:t>
            </a:r>
            <a:endParaRPr lang="en-US" sz="1650"/>
          </a:p>
          <a:p>
            <a:pPr algn="l"/>
            <a:r>
              <a:rPr lang="en-US" sz="1650" b="0">
                <a:solidFill>
                  <a:srgbClr val="263746"/>
                </a:solidFill>
                <a:latin typeface="Aptos"/>
              </a:rPr>
              <a:t>Saved coverage: raw 45; PCA 15 Clinical; LASSO 15 Clinical; SMOTEENN 42/45.</a:t>
            </a:r>
            <a:endParaRPr lang="en-US" sz="1650"/>
          </a:p>
          <a:p>
            <a:pPr algn="l"/>
            <a:r>
              <a:rPr lang="en-US" sz="1650" b="0">
                <a:solidFill>
                  <a:srgbClr val="263746"/>
                </a:solidFill>
                <a:latin typeface="Aptos"/>
              </a:rPr>
              <a:t>Three INTUBED/Demo SMOTEENN fits failed after ENN removed one class.</a:t>
            </a:r>
            <a:endParaRPr lang="en-US" sz="1650"/>
          </a:p>
        </p:txBody>
      </p:sp>
      <p:sp>
        <p:nvSpPr>
          <p:cNvPr id="30" name="Footer"/>
          <p:cNvSpPr txBox="1"/>
          <p:nvPr/>
        </p:nvSpPr>
        <p:spPr>
          <a:xfrm>
            <a:off x="650000" y="6600000"/>
            <a:ext cx="11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607985"/>
                </a:solidFill>
                <a:latin typeface="Aptos"/>
              </a:rPr>
              <a:t>COVID-19 Patient Risk Analysis  |  07</a:t>
            </a:r>
            <a:endParaRPr lang="en-US" sz="900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4572000" y="1417320"/>
          <a:ext cx="713232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30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7324D"/>
                </a:solidFill>
                <a:latin typeface="Aptos"/>
              </a:rPr>
              <a:t>Grouped-split comparison and saved best rows</a:t>
            </a:r>
            <a:endParaRPr lang="en-US" sz="2800"/>
          </a:p>
        </p:txBody>
      </p:sp>
      <p:sp>
        <p:nvSpPr>
          <p:cNvPr id="3" name="Content"/>
          <p:cNvSpPr txBox="1"/>
          <p:nvPr/>
        </p:nvSpPr>
        <p:spPr>
          <a:xfrm>
            <a:off x="720000" y="1450000"/>
            <a:ext cx="10800000" cy="50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650" b="0">
                <a:solidFill>
                  <a:srgbClr val="263746"/>
                </a:solidFill>
                <a:latin typeface="Aptos"/>
              </a:rPr>
              <a:t>Same group-aware split, Clinical features, and Logistic Regression. F1 by method (Raw / PCA / LASSO / GUS / FPR / SMOTEENN):</a:t>
            </a:r>
            <a:endParaRPr lang="en-US" sz="1650"/>
          </a:p>
          <a:p>
            <a:pPr algn="l"/>
            <a:r>
              <a:rPr lang="en-US" sz="1650" b="0">
                <a:solidFill>
                  <a:srgbClr val="263746"/>
                </a:solidFill>
                <a:latin typeface="Aptos"/>
              </a:rPr>
              <a:t>ICU: 0.211 / 0.210 / 0.210 / 0.210 / 0.211 / 0.182</a:t>
            </a:r>
            <a:endParaRPr lang="en-US" sz="1650"/>
          </a:p>
          <a:p>
            <a:pPr algn="l"/>
            <a:r>
              <a:rPr lang="en-US" sz="1650" b="0">
                <a:solidFill>
                  <a:srgbClr val="263746"/>
                </a:solidFill>
                <a:latin typeface="Aptos"/>
              </a:rPr>
              <a:t>INTUBED: 0.354 / 0.354 / 0.351 / 0.353 / 0.355 / 0.301</a:t>
            </a:r>
            <a:endParaRPr lang="en-US" sz="1650"/>
          </a:p>
          <a:p>
            <a:pPr algn="l"/>
            <a:r>
              <a:rPr lang="en-US" sz="1650" b="0">
                <a:solidFill>
                  <a:srgbClr val="263746"/>
                </a:solidFill>
                <a:latin typeface="Aptos"/>
              </a:rPr>
              <a:t>DEATH: 0.478 / 0.477 / 0.482 / 0.468 / 0.478 / 0.489</a:t>
            </a:r>
            <a:endParaRPr lang="en-US" sz="1650"/>
          </a:p>
          <a:p>
            <a:pPr algn="l"/>
            <a:r>
              <a:rPr lang="en-US" sz="1650" b="0">
                <a:solidFill>
                  <a:srgbClr val="263746"/>
                </a:solidFill>
                <a:latin typeface="Aptos"/>
              </a:rPr>
              <a:t>SMOTEENN uses a 100,000-row training cap. This 18-run subset covers one of five models and one of three feature groups.</a:t>
            </a:r>
            <a:endParaRPr lang="en-US" sz="1650"/>
          </a:p>
          <a:p>
            <a:pPr algn="l"/>
            <a:r>
              <a:rPr lang="en-US" sz="1650" b="0">
                <a:solidFill>
                  <a:srgbClr val="263746"/>
                </a:solidFill>
                <a:latin typeface="Aptos"/>
              </a:rPr>
              <a:t>Historical highest F1: ICU Raw LightGBM 0.220; intubation Raw LightGBM 0.353; death SMOTEENN LightGBM 0.509. Those rows use the duplicate-prone random split.</a:t>
            </a:r>
            <a:endParaRPr lang="en-US" sz="1650"/>
          </a:p>
        </p:txBody>
      </p:sp>
      <p:sp>
        <p:nvSpPr>
          <p:cNvPr id="30" name="Footer"/>
          <p:cNvSpPr txBox="1"/>
          <p:nvPr/>
        </p:nvSpPr>
        <p:spPr>
          <a:xfrm>
            <a:off x="650000" y="6600000"/>
            <a:ext cx="11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607985"/>
                </a:solidFill>
                <a:latin typeface="Aptos"/>
              </a:rPr>
              <a:t>COVID-19 Patient Risk Analysis  |  08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50000" y="300000"/>
            <a:ext cx="110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2800" b="1">
                <a:solidFill>
                  <a:srgbClr val="17324D"/>
                </a:solidFill>
                <a:latin typeface="Aptos"/>
              </a:rPr>
              <a:t>Conclusion and live demo</a:t>
            </a:r>
            <a:endParaRPr lang="en-US" sz="2800"/>
          </a:p>
        </p:txBody>
      </p:sp>
      <p:sp>
        <p:nvSpPr>
          <p:cNvPr id="3" name="Content"/>
          <p:cNvSpPr txBox="1"/>
          <p:nvPr/>
        </p:nvSpPr>
        <p:spPr>
          <a:xfrm>
            <a:off x="720000" y="1450000"/>
            <a:ext cx="10800000" cy="50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Historical results show stronger ranking for death, but weak precision for ICU and intubation.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Repeated rows, no patient ID, outcome imbalance, predictor timing, and dataset substitution limit conclusions.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Demo: python -m pytest -q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Then: python src/run_experiments.py --engineering raw --targets ICU --feature-sets Clinical --models LogisticRegression</a:t>
            </a:r>
            <a:endParaRPr lang="en-US" sz="1900"/>
          </a:p>
          <a:p>
            <a:pPr algn="l"/>
            <a:r>
              <a:rPr lang="en-US" sz="1900" b="0">
                <a:solidFill>
                  <a:srgbClr val="263746"/>
                </a:solidFill>
                <a:latin typeface="Aptos"/>
              </a:rPr>
              <a:t>Do not use the model for care or resource allocation.</a:t>
            </a:r>
            <a:endParaRPr lang="en-US" sz="1900"/>
          </a:p>
        </p:txBody>
      </p:sp>
      <p:sp>
        <p:nvSpPr>
          <p:cNvPr id="30" name="Footer"/>
          <p:cNvSpPr txBox="1"/>
          <p:nvPr/>
        </p:nvSpPr>
        <p:spPr>
          <a:xfrm>
            <a:off x="650000" y="6600000"/>
            <a:ext cx="11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lang="en-US" sz="900" b="0">
                <a:solidFill>
                  <a:srgbClr val="607985"/>
                </a:solidFill>
                <a:latin typeface="Aptos"/>
              </a:rPr>
              <a:t>COVID-19 Patient Risk Analysis  |  09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324D"/>
      </a:dk1>
      <a:lt1>
        <a:srgbClr val="FFFFFF"/>
      </a:lt1>
      <a:dk2>
        <a:srgbClr val="263746"/>
      </a:dk2>
      <a:lt2>
        <a:srgbClr val="EEF4F7"/>
      </a:lt2>
      <a:accent1>
        <a:srgbClr val="277DA1"/>
      </a:accent1>
      <a:accent2>
        <a:srgbClr val="F9C74F"/>
      </a:accent2>
      <a:accent3>
        <a:srgbClr val="43AA8B"/>
      </a:accent3>
      <a:accent4>
        <a:srgbClr val="F94144"/>
      </a:accent4>
      <a:accent5>
        <a:srgbClr val="845EC2"/>
      </a:accent5>
      <a:accent6>
        <a:srgbClr val="607985"/>
      </a:accent6>
      <a:hlink>
        <a:srgbClr val="277DA1"/>
      </a:hlink>
      <a:folHlink>
        <a:srgbClr val="845EC2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9</Slides>
</Properties>
</file>

<file path=docProps/core.xml><?xml version="1.0" encoding="utf-8"?>
<cp:coreProperties xmlns:cp="http://schemas.openxmlformats.org/package/2006/metadata/core-properties" xmlns:dc="http://purl.org/dc/elements/1.1/">
  <dc:title>COVID-19 Patient Risk Analysis</dc:title>
  <dc:subject>UE24CS352A machine learning mini-project</dc:subject>
  <dc:creator>Project team</dc:creator>
</cp:coreProperties>
</file>